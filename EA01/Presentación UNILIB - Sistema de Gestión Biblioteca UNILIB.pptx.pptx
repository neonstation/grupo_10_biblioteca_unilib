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Georgia Pro Condensed" charset="1" panose="02040506050405020303"/>
      <p:regular r:id="rId18"/>
    </p:embeddedFont>
    <p:embeddedFont>
      <p:font typeface="Helvetica World" charset="1" panose="020B0500040000020004"/>
      <p:regular r:id="rId19"/>
    </p:embeddedFont>
    <p:embeddedFont>
      <p:font typeface="Helvetica Bold" charset="1" panose="020B0704020202030204"/>
      <p:regular r:id="rId20"/>
    </p:embeddedFont>
    <p:embeddedFont>
      <p:font typeface="Helvetica" charset="1" panose="020B0504020202020204"/>
      <p:regular r:id="rId21"/>
    </p:embeddedFont>
    <p:embeddedFont>
      <p:font typeface="Helvetica World Bold" charset="1" panose="020B080004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jpe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jpeg" Type="http://schemas.openxmlformats.org/officeDocument/2006/relationships/image"/><Relationship Id="rId11" Target="../media/image32.pn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jpeg" Type="http://schemas.openxmlformats.org/officeDocument/2006/relationships/image"/><Relationship Id="rId5" Target="../media/image26.jpeg" Type="http://schemas.openxmlformats.org/officeDocument/2006/relationships/image"/><Relationship Id="rId6" Target="../media/image27.jpeg" Type="http://schemas.openxmlformats.org/officeDocument/2006/relationships/image"/><Relationship Id="rId7" Target="../media/image28.jpeg" Type="http://schemas.openxmlformats.org/officeDocument/2006/relationships/image"/><Relationship Id="rId8" Target="../media/image29.jpe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5.jpe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8.pn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9.pn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95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5977" y="618214"/>
            <a:ext cx="11201400" cy="10299697"/>
            <a:chOff x="0" y="0"/>
            <a:chExt cx="14935200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3520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4935200">
                  <a:moveTo>
                    <a:pt x="0" y="0"/>
                  </a:moveTo>
                  <a:lnTo>
                    <a:pt x="14935200" y="0"/>
                  </a:lnTo>
                  <a:lnTo>
                    <a:pt x="14935200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C1FF72"/>
            </a:solidFill>
          </p:spPr>
        </p:sp>
      </p:grpSp>
      <p:grpSp>
        <p:nvGrpSpPr>
          <p:cNvPr name="Group 4" id="4"/>
          <p:cNvGrpSpPr/>
          <p:nvPr/>
        </p:nvGrpSpPr>
        <p:grpSpPr>
          <a:xfrm rot="-30000">
            <a:off x="11830841" y="643471"/>
            <a:ext cx="5827719" cy="9000058"/>
            <a:chOff x="0" y="0"/>
            <a:chExt cx="7770292" cy="120000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11" y="-11"/>
              <a:ext cx="7770260" cy="12000122"/>
            </a:xfrm>
            <a:custGeom>
              <a:avLst/>
              <a:gdLst/>
              <a:ahLst/>
              <a:cxnLst/>
              <a:rect r="r" b="b" t="t" l="l"/>
              <a:pathLst>
                <a:path h="12000122" w="7770260">
                  <a:moveTo>
                    <a:pt x="355357" y="11"/>
                  </a:moveTo>
                  <a:lnTo>
                    <a:pt x="7519046" y="62495"/>
                  </a:lnTo>
                  <a:cubicBezTo>
                    <a:pt x="7659000" y="63765"/>
                    <a:pt x="7771395" y="178192"/>
                    <a:pt x="7770252" y="318146"/>
                  </a:cubicBezTo>
                  <a:lnTo>
                    <a:pt x="7670557" y="11748908"/>
                  </a:lnTo>
                  <a:cubicBezTo>
                    <a:pt x="7669287" y="11888862"/>
                    <a:pt x="7554860" y="12001257"/>
                    <a:pt x="7414906" y="12000114"/>
                  </a:cubicBezTo>
                  <a:lnTo>
                    <a:pt x="251217" y="11937503"/>
                  </a:lnTo>
                  <a:cubicBezTo>
                    <a:pt x="111263" y="11936360"/>
                    <a:pt x="-1259" y="11821933"/>
                    <a:pt x="11" y="11681979"/>
                  </a:cubicBezTo>
                  <a:lnTo>
                    <a:pt x="99833" y="251217"/>
                  </a:lnTo>
                  <a:cubicBezTo>
                    <a:pt x="100976" y="111263"/>
                    <a:pt x="215403" y="-1259"/>
                    <a:pt x="355357" y="11"/>
                  </a:cubicBezTo>
                  <a:close/>
                </a:path>
              </a:pathLst>
            </a:custGeom>
            <a:blipFill>
              <a:blip r:embed="rId2"/>
              <a:stretch>
                <a:fillRect l="-52942" t="0" r="-52943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75380" y="1194140"/>
            <a:ext cx="9754495" cy="6706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52"/>
              </a:lnSpc>
            </a:pPr>
            <a:r>
              <a:rPr lang="en-US" sz="13552" spc="-473">
                <a:solidFill>
                  <a:srgbClr val="1322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Sistema de Gestión Biblioteca UNILIB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10800000">
            <a:off x="9372242" y="313142"/>
            <a:ext cx="2115267" cy="1861430"/>
          </a:xfrm>
          <a:custGeom>
            <a:avLst/>
            <a:gdLst/>
            <a:ahLst/>
            <a:cxnLst/>
            <a:rect r="r" b="b" t="t" l="l"/>
            <a:pathLst>
              <a:path h="1861430" w="2115267">
                <a:moveTo>
                  <a:pt x="0" y="0"/>
                </a:moveTo>
                <a:lnTo>
                  <a:pt x="2115266" y="0"/>
                </a:lnTo>
                <a:lnTo>
                  <a:pt x="2115266" y="1861430"/>
                </a:lnTo>
                <a:lnTo>
                  <a:pt x="0" y="18614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63" r="0" b="-163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572661" y="2816129"/>
            <a:ext cx="3142678" cy="4114800"/>
          </a:xfrm>
          <a:custGeom>
            <a:avLst/>
            <a:gdLst/>
            <a:ahLst/>
            <a:cxnLst/>
            <a:rect r="r" b="b" t="t" l="l"/>
            <a:pathLst>
              <a:path h="4114800" w="3142678">
                <a:moveTo>
                  <a:pt x="0" y="0"/>
                </a:moveTo>
                <a:lnTo>
                  <a:pt x="3142678" y="0"/>
                </a:lnTo>
                <a:lnTo>
                  <a:pt x="31426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66750" y="8354063"/>
            <a:ext cx="6886575" cy="1266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9"/>
              </a:lnSpc>
            </a:pPr>
            <a:r>
              <a:rPr lang="en-US" sz="3800" spc="-56">
                <a:solidFill>
                  <a:srgbClr val="1322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Autores: Evelyn Guiñez y Benjamín Gutiérrez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95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96400" y="-144656"/>
            <a:ext cx="8991600" cy="3497456"/>
          </a:xfrm>
          <a:custGeom>
            <a:avLst/>
            <a:gdLst/>
            <a:ahLst/>
            <a:cxnLst/>
            <a:rect r="r" b="b" t="t" l="l"/>
            <a:pathLst>
              <a:path h="3497456" w="8991600">
                <a:moveTo>
                  <a:pt x="0" y="0"/>
                </a:moveTo>
                <a:lnTo>
                  <a:pt x="8991600" y="0"/>
                </a:lnTo>
                <a:lnTo>
                  <a:pt x="8991600" y="3497456"/>
                </a:lnTo>
                <a:lnTo>
                  <a:pt x="0" y="3497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30000">
            <a:off x="8946899" y="-40367"/>
            <a:ext cx="9385821" cy="10367734"/>
            <a:chOff x="0" y="0"/>
            <a:chExt cx="12514428" cy="138236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14453" cy="13823696"/>
            </a:xfrm>
            <a:custGeom>
              <a:avLst/>
              <a:gdLst/>
              <a:ahLst/>
              <a:cxnLst/>
              <a:rect r="r" b="b" t="t" l="l"/>
              <a:pathLst>
                <a:path h="13823696" w="12514453">
                  <a:moveTo>
                    <a:pt x="0" y="108204"/>
                  </a:moveTo>
                  <a:lnTo>
                    <a:pt x="12394692" y="0"/>
                  </a:lnTo>
                  <a:lnTo>
                    <a:pt x="12514453" y="13715492"/>
                  </a:lnTo>
                  <a:lnTo>
                    <a:pt x="119761" y="13823696"/>
                  </a:lnTo>
                  <a:close/>
                </a:path>
              </a:pathLst>
            </a:custGeom>
            <a:blipFill>
              <a:blip r:embed="rId4"/>
              <a:stretch>
                <a:fillRect l="-33258" t="0" r="-3325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491731" y="1699368"/>
            <a:ext cx="2123187" cy="1653432"/>
          </a:xfrm>
          <a:custGeom>
            <a:avLst/>
            <a:gdLst/>
            <a:ahLst/>
            <a:cxnLst/>
            <a:rect r="r" b="b" t="t" l="l"/>
            <a:pathLst>
              <a:path h="1653432" w="2123187">
                <a:moveTo>
                  <a:pt x="0" y="0"/>
                </a:moveTo>
                <a:lnTo>
                  <a:pt x="2123188" y="0"/>
                </a:lnTo>
                <a:lnTo>
                  <a:pt x="2123188" y="1653432"/>
                </a:lnTo>
                <a:lnTo>
                  <a:pt x="0" y="16534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6750" y="952500"/>
            <a:ext cx="6886575" cy="193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Propósito del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" y="3596597"/>
            <a:ext cx="7511189" cy="536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2"/>
              </a:lnSpc>
            </a:pPr>
            <a:r>
              <a:rPr lang="en-US" sz="2558" spc="-3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Este proyecto tiene como objetivo </a:t>
            </a:r>
            <a:r>
              <a:rPr lang="en-US" sz="2558" spc="-3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definir los requisitos</a:t>
            </a:r>
            <a:r>
              <a:rPr lang="en-US" sz="2558" spc="-3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del sistema de gestión para la biblioteca de UNILIB, buscando superar las limitaciones del modelo actual. </a:t>
            </a:r>
          </a:p>
          <a:p>
            <a:pPr algn="l">
              <a:lnSpc>
                <a:spcPts val="3582"/>
              </a:lnSpc>
            </a:pPr>
          </a:p>
          <a:p>
            <a:pPr algn="l">
              <a:lnSpc>
                <a:spcPts val="3582"/>
              </a:lnSpc>
            </a:pPr>
            <a:r>
              <a:rPr lang="en-US" sz="2558" spc="-3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 propósito es transformar los procesos manuales en flujos de trabajo automatizados y ágiles, logrando así una modernización profunda de la biblioteca.</a:t>
            </a:r>
          </a:p>
          <a:p>
            <a:pPr algn="l">
              <a:lnSpc>
                <a:spcPts val="3582"/>
              </a:lnSpc>
            </a:pPr>
          </a:p>
          <a:p>
            <a:pPr algn="l">
              <a:lnSpc>
                <a:spcPts val="3582"/>
              </a:lnSpc>
            </a:pPr>
            <a:r>
              <a:rPr lang="en-US" sz="2558" spc="-3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Con esto, garantizamos que el sistema no solo sea actual, sino que responda con eficiencia y rapidez a lo que la comunidad universitaria realmente necesita hoy.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95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182100"/>
            <a:ext cx="1524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66750" y="617134"/>
            <a:ext cx="16954500" cy="9098166"/>
          </a:xfrm>
          <a:custGeom>
            <a:avLst/>
            <a:gdLst/>
            <a:ahLst/>
            <a:cxnLst/>
            <a:rect r="r" b="b" t="t" l="l"/>
            <a:pathLst>
              <a:path h="9098166" w="16954500">
                <a:moveTo>
                  <a:pt x="0" y="0"/>
                </a:moveTo>
                <a:lnTo>
                  <a:pt x="16954500" y="0"/>
                </a:lnTo>
                <a:lnTo>
                  <a:pt x="16954500" y="9098166"/>
                </a:lnTo>
                <a:lnTo>
                  <a:pt x="0" y="9098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693840">
            <a:off x="14708524" y="7045045"/>
            <a:ext cx="3641474" cy="3204496"/>
          </a:xfrm>
          <a:custGeom>
            <a:avLst/>
            <a:gdLst/>
            <a:ahLst/>
            <a:cxnLst/>
            <a:rect r="r" b="b" t="t" l="l"/>
            <a:pathLst>
              <a:path h="3204496" w="3641474">
                <a:moveTo>
                  <a:pt x="0" y="0"/>
                </a:moveTo>
                <a:lnTo>
                  <a:pt x="3641474" y="0"/>
                </a:lnTo>
                <a:lnTo>
                  <a:pt x="3641474" y="3204495"/>
                </a:lnTo>
                <a:lnTo>
                  <a:pt x="0" y="3204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" t="0" r="-5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158968" y="1028700"/>
            <a:ext cx="3844963" cy="3163856"/>
          </a:xfrm>
          <a:custGeom>
            <a:avLst/>
            <a:gdLst/>
            <a:ahLst/>
            <a:cxnLst/>
            <a:rect r="r" b="b" t="t" l="l"/>
            <a:pathLst>
              <a:path h="3163856" w="3844963">
                <a:moveTo>
                  <a:pt x="0" y="0"/>
                </a:moveTo>
                <a:lnTo>
                  <a:pt x="3844964" y="0"/>
                </a:lnTo>
                <a:lnTo>
                  <a:pt x="3844964" y="3163856"/>
                </a:lnTo>
                <a:lnTo>
                  <a:pt x="0" y="31638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10501" y="8049235"/>
            <a:ext cx="822617" cy="1666065"/>
          </a:xfrm>
          <a:custGeom>
            <a:avLst/>
            <a:gdLst/>
            <a:ahLst/>
            <a:cxnLst/>
            <a:rect r="r" b="b" t="t" l="l"/>
            <a:pathLst>
              <a:path h="1666065" w="822617">
                <a:moveTo>
                  <a:pt x="0" y="0"/>
                </a:moveTo>
                <a:lnTo>
                  <a:pt x="822617" y="0"/>
                </a:lnTo>
                <a:lnTo>
                  <a:pt x="822617" y="1666065"/>
                </a:lnTo>
                <a:lnTo>
                  <a:pt x="0" y="16660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43" t="0" r="-343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12081"/>
            <a:ext cx="12944475" cy="136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8000" spc="-24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Alcance del Sistema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0225" y="3181436"/>
            <a:ext cx="1294447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2499" spc="-37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Funcionalidades y límites del sistema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00225" y="3770599"/>
            <a:ext cx="9349338" cy="1842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-2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 alcance de este proyecto se centra en cubrir las necesidades vitales de la biblioteca.</a:t>
            </a:r>
          </a:p>
          <a:p>
            <a:pPr algn="l">
              <a:lnSpc>
                <a:spcPts val="2940"/>
              </a:lnSpc>
            </a:pPr>
            <a:r>
              <a:rPr lang="en-US" sz="2100" spc="-3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 sistema permitirá gestionar todo el ciclo de vida de un libro: desde que ingresa al inventario, hasta que un usuario lo busca en el catálogo, lo pide prestado y finalmente lo devuelve.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28700" y="8049235"/>
            <a:ext cx="822617" cy="1666065"/>
          </a:xfrm>
          <a:custGeom>
            <a:avLst/>
            <a:gdLst/>
            <a:ahLst/>
            <a:cxnLst/>
            <a:rect r="r" b="b" t="t" l="l"/>
            <a:pathLst>
              <a:path h="1666065" w="822617">
                <a:moveTo>
                  <a:pt x="0" y="0"/>
                </a:moveTo>
                <a:lnTo>
                  <a:pt x="822617" y="0"/>
                </a:lnTo>
                <a:lnTo>
                  <a:pt x="822617" y="1666065"/>
                </a:lnTo>
                <a:lnTo>
                  <a:pt x="0" y="16660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43" t="0" r="-343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21810" y="8049235"/>
            <a:ext cx="822617" cy="1666065"/>
          </a:xfrm>
          <a:custGeom>
            <a:avLst/>
            <a:gdLst/>
            <a:ahLst/>
            <a:cxnLst/>
            <a:rect r="r" b="b" t="t" l="l"/>
            <a:pathLst>
              <a:path h="1666065" w="822617">
                <a:moveTo>
                  <a:pt x="0" y="0"/>
                </a:moveTo>
                <a:lnTo>
                  <a:pt x="822617" y="0"/>
                </a:lnTo>
                <a:lnTo>
                  <a:pt x="822617" y="1666065"/>
                </a:lnTo>
                <a:lnTo>
                  <a:pt x="0" y="16660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43" t="0" r="-343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40009" y="8049235"/>
            <a:ext cx="822617" cy="1666065"/>
          </a:xfrm>
          <a:custGeom>
            <a:avLst/>
            <a:gdLst/>
            <a:ahLst/>
            <a:cxnLst/>
            <a:rect r="r" b="b" t="t" l="l"/>
            <a:pathLst>
              <a:path h="1666065" w="822617">
                <a:moveTo>
                  <a:pt x="0" y="0"/>
                </a:moveTo>
                <a:lnTo>
                  <a:pt x="822617" y="0"/>
                </a:lnTo>
                <a:lnTo>
                  <a:pt x="822617" y="1666065"/>
                </a:lnTo>
                <a:lnTo>
                  <a:pt x="0" y="16660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43" t="0" r="-343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031977" y="6031813"/>
            <a:ext cx="6885835" cy="9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spc="-3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Básicamente, digitalizaremos todo el movimiento diario de la biblioteca para que dejen de usar papel o sistemas desordenados.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99955" y="7353321"/>
            <a:ext cx="9125591" cy="1276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spc="-3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Este</a:t>
            </a:r>
            <a:r>
              <a:rPr lang="en-US" sz="2100" spc="-3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software será independiente. Esto significa que nos enfocaremos en que la base (préstamos y búsquedas) sea impecable, sin intentar conectarnos con otros sistemas externos por ahora. El objetivo es entregar una herramienta que sea fácil de aprender para el personal y rápida para los estudiantes.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95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182100"/>
            <a:ext cx="1524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66750" y="522084"/>
            <a:ext cx="16954500" cy="9098166"/>
          </a:xfrm>
          <a:custGeom>
            <a:avLst/>
            <a:gdLst/>
            <a:ahLst/>
            <a:cxnLst/>
            <a:rect r="r" b="b" t="t" l="l"/>
            <a:pathLst>
              <a:path h="9098166" w="16954500">
                <a:moveTo>
                  <a:pt x="0" y="0"/>
                </a:moveTo>
                <a:lnTo>
                  <a:pt x="16954500" y="0"/>
                </a:lnTo>
                <a:lnTo>
                  <a:pt x="16954500" y="9098166"/>
                </a:lnTo>
                <a:lnTo>
                  <a:pt x="0" y="9098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00225" y="1412081"/>
            <a:ext cx="13249275" cy="136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8000" spc="-24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Usuarios del Sistema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00225" y="3181436"/>
            <a:ext cx="1324927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2499" spc="-37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Identificación de tipos de usuarios y roles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72950" y="5131594"/>
            <a:ext cx="4010025" cy="41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 spc="-37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Bibliotecarios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72950" y="5915025"/>
            <a:ext cx="4010025" cy="218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3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Los bibliotecarios gestionan el sistema, controlando los </a:t>
            </a:r>
            <a:r>
              <a:rPr lang="en-US" b="true" sz="2000" spc="-3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préstamos y devoluciones</a:t>
            </a:r>
            <a:r>
              <a:rPr lang="en-US" sz="2000" spc="-3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 libros, asegurando una experiencia fluida para todos los usuarios de la biblioteca.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10105920">
            <a:off x="13872934" y="1088698"/>
            <a:ext cx="4620073" cy="4065661"/>
          </a:xfrm>
          <a:custGeom>
            <a:avLst/>
            <a:gdLst/>
            <a:ahLst/>
            <a:cxnLst/>
            <a:rect r="r" b="b" t="t" l="l"/>
            <a:pathLst>
              <a:path h="4065661" w="4620073">
                <a:moveTo>
                  <a:pt x="0" y="0"/>
                </a:moveTo>
                <a:lnTo>
                  <a:pt x="4620073" y="0"/>
                </a:lnTo>
                <a:lnTo>
                  <a:pt x="4620073" y="4065660"/>
                </a:lnTo>
                <a:lnTo>
                  <a:pt x="0" y="4065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9" t="0" r="-79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291388" y="4248102"/>
            <a:ext cx="798681" cy="779716"/>
          </a:xfrm>
          <a:custGeom>
            <a:avLst/>
            <a:gdLst/>
            <a:ahLst/>
            <a:cxnLst/>
            <a:rect r="r" b="b" t="t" l="l"/>
            <a:pathLst>
              <a:path h="779716" w="798681">
                <a:moveTo>
                  <a:pt x="0" y="0"/>
                </a:moveTo>
                <a:lnTo>
                  <a:pt x="798680" y="0"/>
                </a:lnTo>
                <a:lnTo>
                  <a:pt x="798680" y="779717"/>
                </a:lnTo>
                <a:lnTo>
                  <a:pt x="0" y="7797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" t="0" r="-3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00225" y="5131594"/>
            <a:ext cx="4308500" cy="41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 spc="-37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Estudiantes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00225" y="5915025"/>
            <a:ext cx="4308500" cy="1806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3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Los estudiantes son los principales usuarios, quienes </a:t>
            </a:r>
            <a:r>
              <a:rPr lang="en-US" b="true" sz="2000" spc="-3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buscan y solicitan</a:t>
            </a:r>
            <a:r>
              <a:rPr lang="en-US" sz="2000" spc="-3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préstamos de libros para facilitar su aprendizaje y desarrollo académico en la biblioteca.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91388" y="5131594"/>
            <a:ext cx="4010025" cy="41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 spc="-37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Docentes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91388" y="5915025"/>
            <a:ext cx="4010025" cy="2159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3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Los docentes acceden a materiales relevantes para sus clases y </a:t>
            </a:r>
            <a:r>
              <a:rPr lang="en-US" b="true" sz="2000" spc="-3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realizan préstamos</a:t>
            </a:r>
            <a:r>
              <a:rPr lang="en-US" sz="2000" spc="-3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 libros, apoyando así su labor educativa y la investigación en sus respectivas áreas.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172950" y="4248102"/>
            <a:ext cx="798681" cy="779716"/>
          </a:xfrm>
          <a:custGeom>
            <a:avLst/>
            <a:gdLst/>
            <a:ahLst/>
            <a:cxnLst/>
            <a:rect r="r" b="b" t="t" l="l"/>
            <a:pathLst>
              <a:path h="779716" w="798681">
                <a:moveTo>
                  <a:pt x="0" y="0"/>
                </a:moveTo>
                <a:lnTo>
                  <a:pt x="798681" y="0"/>
                </a:lnTo>
                <a:lnTo>
                  <a:pt x="798681" y="779717"/>
                </a:lnTo>
                <a:lnTo>
                  <a:pt x="0" y="7797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" t="0" r="-3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800225" y="4248102"/>
            <a:ext cx="798681" cy="779716"/>
          </a:xfrm>
          <a:custGeom>
            <a:avLst/>
            <a:gdLst/>
            <a:ahLst/>
            <a:cxnLst/>
            <a:rect r="r" b="b" t="t" l="l"/>
            <a:pathLst>
              <a:path h="779716" w="798681">
                <a:moveTo>
                  <a:pt x="0" y="0"/>
                </a:moveTo>
                <a:lnTo>
                  <a:pt x="798681" y="0"/>
                </a:lnTo>
                <a:lnTo>
                  <a:pt x="798681" y="779717"/>
                </a:lnTo>
                <a:lnTo>
                  <a:pt x="0" y="7797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" t="0" r="-3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95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182100"/>
            <a:ext cx="1524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66750" y="522084"/>
            <a:ext cx="16954500" cy="9098166"/>
          </a:xfrm>
          <a:custGeom>
            <a:avLst/>
            <a:gdLst/>
            <a:ahLst/>
            <a:cxnLst/>
            <a:rect r="r" b="b" t="t" l="l"/>
            <a:pathLst>
              <a:path h="9098166" w="16954500">
                <a:moveTo>
                  <a:pt x="0" y="0"/>
                </a:moveTo>
                <a:lnTo>
                  <a:pt x="16954500" y="0"/>
                </a:lnTo>
                <a:lnTo>
                  <a:pt x="16954500" y="9098166"/>
                </a:lnTo>
                <a:lnTo>
                  <a:pt x="0" y="9098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00225" y="5131594"/>
            <a:ext cx="4308500" cy="41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 spc="-37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Registro de usuarios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00225" y="5915025"/>
            <a:ext cx="4308500" cy="183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3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 sistema permite el </a:t>
            </a:r>
            <a:r>
              <a:rPr lang="en-US" b="true" sz="2000" spc="-3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registro y autenticación</a:t>
            </a:r>
            <a:r>
              <a:rPr lang="en-US" sz="2000" spc="-3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 usuarios, asegurando que cada miembro tenga acceso personalizado a sus servicios y recursos bibliotecarios.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255899">
            <a:off x="2076" y="7675921"/>
            <a:ext cx="3596307" cy="3164748"/>
          </a:xfrm>
          <a:custGeom>
            <a:avLst/>
            <a:gdLst/>
            <a:ahLst/>
            <a:cxnLst/>
            <a:rect r="r" b="b" t="t" l="l"/>
            <a:pathLst>
              <a:path h="3164748" w="3596307">
                <a:moveTo>
                  <a:pt x="0" y="0"/>
                </a:moveTo>
                <a:lnTo>
                  <a:pt x="3596307" y="0"/>
                </a:lnTo>
                <a:lnTo>
                  <a:pt x="3596307" y="3164748"/>
                </a:lnTo>
                <a:lnTo>
                  <a:pt x="0" y="31647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4" r="0" b="-5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3140557" y="1671514"/>
            <a:ext cx="4761547" cy="3475930"/>
          </a:xfrm>
          <a:custGeom>
            <a:avLst/>
            <a:gdLst/>
            <a:ahLst/>
            <a:cxnLst/>
            <a:rect r="r" b="b" t="t" l="l"/>
            <a:pathLst>
              <a:path h="3475930" w="4761547">
                <a:moveTo>
                  <a:pt x="0" y="0"/>
                </a:moveTo>
                <a:lnTo>
                  <a:pt x="4761547" y="0"/>
                </a:lnTo>
                <a:lnTo>
                  <a:pt x="4761547" y="3475929"/>
                </a:lnTo>
                <a:lnTo>
                  <a:pt x="0" y="34759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37" r="0" b="-137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00225" y="1412081"/>
            <a:ext cx="13249275" cy="136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8000" spc="-24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Funciones Principales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00225" y="3181436"/>
            <a:ext cx="1324927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2499" spc="-37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Resumen de las funcionalidades clave del sistema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91388" y="5131594"/>
            <a:ext cx="4010025" cy="41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 spc="-37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Búsqueda de libros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91388" y="5915025"/>
            <a:ext cx="4010025" cy="183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3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Los usuarios pueden </a:t>
            </a:r>
            <a:r>
              <a:rPr lang="en-US" b="true" sz="2000" spc="-3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buscar y filtrar libros</a:t>
            </a:r>
            <a:r>
              <a:rPr lang="en-US" sz="2000" spc="-3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fácilmente a través del catálogo en línea, facilitando la localización de material relevante para sus necesidades académicas.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72950" y="5131594"/>
            <a:ext cx="4010025" cy="41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 spc="-37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Registro de préstamos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72950" y="5915025"/>
            <a:ext cx="4010025" cy="218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3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 funcionalidad de </a:t>
            </a:r>
            <a:r>
              <a:rPr lang="en-US" b="true" sz="2000" spc="-3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registro de préstamos y devoluciones</a:t>
            </a:r>
            <a:r>
              <a:rPr lang="en-US" sz="2000" spc="-3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permite a los bibliotecarios gestionar eficientemente el historial de materiales, asegurando un seguimiento adecuado de cada libro.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95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65965" y="2178740"/>
            <a:ext cx="3067629" cy="3840205"/>
          </a:xfrm>
          <a:custGeom>
            <a:avLst/>
            <a:gdLst/>
            <a:ahLst/>
            <a:cxnLst/>
            <a:rect r="r" b="b" t="t" l="l"/>
            <a:pathLst>
              <a:path h="3840205" w="3067629">
                <a:moveTo>
                  <a:pt x="0" y="0"/>
                </a:moveTo>
                <a:lnTo>
                  <a:pt x="3067630" y="0"/>
                </a:lnTo>
                <a:lnTo>
                  <a:pt x="3067630" y="3840205"/>
                </a:lnTo>
                <a:lnTo>
                  <a:pt x="0" y="3840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05210" y="2178740"/>
            <a:ext cx="3067629" cy="3840205"/>
          </a:xfrm>
          <a:custGeom>
            <a:avLst/>
            <a:gdLst/>
            <a:ahLst/>
            <a:cxnLst/>
            <a:rect r="r" b="b" t="t" l="l"/>
            <a:pathLst>
              <a:path h="3840205" w="3067629">
                <a:moveTo>
                  <a:pt x="0" y="0"/>
                </a:moveTo>
                <a:lnTo>
                  <a:pt x="3067629" y="0"/>
                </a:lnTo>
                <a:lnTo>
                  <a:pt x="3067629" y="3840205"/>
                </a:lnTo>
                <a:lnTo>
                  <a:pt x="0" y="3840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44455" y="2178740"/>
            <a:ext cx="3067629" cy="3840205"/>
          </a:xfrm>
          <a:custGeom>
            <a:avLst/>
            <a:gdLst/>
            <a:ahLst/>
            <a:cxnLst/>
            <a:rect r="r" b="b" t="t" l="l"/>
            <a:pathLst>
              <a:path h="3840205" w="3067629">
                <a:moveTo>
                  <a:pt x="0" y="0"/>
                </a:moveTo>
                <a:lnTo>
                  <a:pt x="3067629" y="0"/>
                </a:lnTo>
                <a:lnTo>
                  <a:pt x="3067629" y="3840205"/>
                </a:lnTo>
                <a:lnTo>
                  <a:pt x="0" y="3840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136999" y="2961210"/>
            <a:ext cx="2525562" cy="1945299"/>
            <a:chOff x="0" y="0"/>
            <a:chExt cx="6199594" cy="4775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99632" cy="4775200"/>
            </a:xfrm>
            <a:custGeom>
              <a:avLst/>
              <a:gdLst/>
              <a:ahLst/>
              <a:cxnLst/>
              <a:rect r="r" b="b" t="t" l="l"/>
              <a:pathLst>
                <a:path h="4775200" w="6199632">
                  <a:moveTo>
                    <a:pt x="163957" y="0"/>
                  </a:moveTo>
                  <a:lnTo>
                    <a:pt x="6035675" y="0"/>
                  </a:lnTo>
                  <a:cubicBezTo>
                    <a:pt x="6126226" y="0"/>
                    <a:pt x="6199632" y="73406"/>
                    <a:pt x="6199632" y="163957"/>
                  </a:cubicBezTo>
                  <a:lnTo>
                    <a:pt x="6199632" y="4611243"/>
                  </a:lnTo>
                  <a:cubicBezTo>
                    <a:pt x="6199632" y="4701794"/>
                    <a:pt x="6126226" y="4775200"/>
                    <a:pt x="6035675" y="4775200"/>
                  </a:cubicBezTo>
                  <a:lnTo>
                    <a:pt x="163957" y="4775200"/>
                  </a:lnTo>
                  <a:cubicBezTo>
                    <a:pt x="120523" y="4775200"/>
                    <a:pt x="78740" y="4757928"/>
                    <a:pt x="48006" y="4727194"/>
                  </a:cubicBezTo>
                  <a:cubicBezTo>
                    <a:pt x="17272" y="4696460"/>
                    <a:pt x="0" y="4654804"/>
                    <a:pt x="0" y="4611243"/>
                  </a:cubicBezTo>
                  <a:lnTo>
                    <a:pt x="0" y="163957"/>
                  </a:lnTo>
                  <a:cubicBezTo>
                    <a:pt x="0" y="120396"/>
                    <a:pt x="17272" y="78740"/>
                    <a:pt x="48006" y="48006"/>
                  </a:cubicBezTo>
                  <a:cubicBezTo>
                    <a:pt x="78740" y="17272"/>
                    <a:pt x="120396" y="0"/>
                    <a:pt x="163957" y="0"/>
                  </a:cubicBezTo>
                  <a:close/>
                </a:path>
              </a:pathLst>
            </a:custGeom>
            <a:blipFill>
              <a:blip r:embed="rId4"/>
              <a:stretch>
                <a:fillRect l="-7768" t="0" r="-776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-6000">
            <a:off x="6328402" y="2992058"/>
            <a:ext cx="2621252" cy="2020806"/>
            <a:chOff x="0" y="0"/>
            <a:chExt cx="6207341" cy="47854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1" y="-1"/>
              <a:ext cx="6207253" cy="4785488"/>
            </a:xfrm>
            <a:custGeom>
              <a:avLst/>
              <a:gdLst/>
              <a:ahLst/>
              <a:cxnLst/>
              <a:rect r="r" b="b" t="t" l="l"/>
              <a:pathLst>
                <a:path h="4785488" w="6207253">
                  <a:moveTo>
                    <a:pt x="171959" y="1"/>
                  </a:moveTo>
                  <a:lnTo>
                    <a:pt x="6043677" y="10288"/>
                  </a:lnTo>
                  <a:cubicBezTo>
                    <a:pt x="6134228" y="10415"/>
                    <a:pt x="6207507" y="83948"/>
                    <a:pt x="6207253" y="174499"/>
                  </a:cubicBezTo>
                  <a:lnTo>
                    <a:pt x="6199506" y="4621785"/>
                  </a:lnTo>
                  <a:cubicBezTo>
                    <a:pt x="6199379" y="4712336"/>
                    <a:pt x="6125846" y="4785615"/>
                    <a:pt x="6035295" y="4785488"/>
                  </a:cubicBezTo>
                  <a:lnTo>
                    <a:pt x="163577" y="4775201"/>
                  </a:lnTo>
                  <a:cubicBezTo>
                    <a:pt x="120143" y="4775074"/>
                    <a:pt x="78487" y="4757802"/>
                    <a:pt x="47753" y="4726941"/>
                  </a:cubicBezTo>
                  <a:cubicBezTo>
                    <a:pt x="17019" y="4696080"/>
                    <a:pt x="-126" y="4654424"/>
                    <a:pt x="1" y="4610990"/>
                  </a:cubicBezTo>
                  <a:lnTo>
                    <a:pt x="7748" y="163577"/>
                  </a:lnTo>
                  <a:cubicBezTo>
                    <a:pt x="7875" y="120143"/>
                    <a:pt x="25147" y="78487"/>
                    <a:pt x="56008" y="47753"/>
                  </a:cubicBezTo>
                  <a:cubicBezTo>
                    <a:pt x="86869" y="17019"/>
                    <a:pt x="128525" y="-126"/>
                    <a:pt x="171959" y="1"/>
                  </a:cubicBezTo>
                  <a:close/>
                </a:path>
              </a:pathLst>
            </a:custGeom>
            <a:blipFill>
              <a:blip r:embed="rId5"/>
              <a:stretch>
                <a:fillRect l="-5898" t="0" r="-5899" b="1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-24000">
            <a:off x="9562755" y="2985585"/>
            <a:ext cx="2631028" cy="2033747"/>
            <a:chOff x="0" y="0"/>
            <a:chExt cx="6230493" cy="48160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-3" y="-3"/>
              <a:ext cx="6230500" cy="4816101"/>
            </a:xfrm>
            <a:custGeom>
              <a:avLst/>
              <a:gdLst/>
              <a:ahLst/>
              <a:cxnLst/>
              <a:rect r="r" b="b" t="t" l="l"/>
              <a:pathLst>
                <a:path h="4816101" w="6230500">
                  <a:moveTo>
                    <a:pt x="196091" y="3"/>
                  </a:moveTo>
                  <a:lnTo>
                    <a:pt x="6067682" y="41024"/>
                  </a:lnTo>
                  <a:cubicBezTo>
                    <a:pt x="6158233" y="41659"/>
                    <a:pt x="6231131" y="115573"/>
                    <a:pt x="6230496" y="206124"/>
                  </a:cubicBezTo>
                  <a:lnTo>
                    <a:pt x="6199508" y="4653283"/>
                  </a:lnTo>
                  <a:cubicBezTo>
                    <a:pt x="6198873" y="4743834"/>
                    <a:pt x="6124959" y="4816732"/>
                    <a:pt x="6034408" y="4816097"/>
                  </a:cubicBezTo>
                  <a:lnTo>
                    <a:pt x="162817" y="4775076"/>
                  </a:lnTo>
                  <a:cubicBezTo>
                    <a:pt x="119383" y="4774822"/>
                    <a:pt x="77727" y="4757169"/>
                    <a:pt x="47247" y="4726308"/>
                  </a:cubicBezTo>
                  <a:cubicBezTo>
                    <a:pt x="16767" y="4695447"/>
                    <a:pt x="-251" y="4653537"/>
                    <a:pt x="3" y="4609976"/>
                  </a:cubicBezTo>
                  <a:lnTo>
                    <a:pt x="31118" y="162817"/>
                  </a:lnTo>
                  <a:cubicBezTo>
                    <a:pt x="31372" y="119383"/>
                    <a:pt x="49025" y="77727"/>
                    <a:pt x="79886" y="47247"/>
                  </a:cubicBezTo>
                  <a:cubicBezTo>
                    <a:pt x="110747" y="16767"/>
                    <a:pt x="152657" y="-251"/>
                    <a:pt x="196091" y="3"/>
                  </a:cubicBezTo>
                  <a:close/>
                </a:path>
              </a:pathLst>
            </a:custGeom>
            <a:blipFill>
              <a:blip r:embed="rId6"/>
              <a:stretch>
                <a:fillRect l="-20856" t="0" r="-20857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895416" y="5025259"/>
            <a:ext cx="3008728" cy="830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b="true" sz="1447" spc="-20">
                <a:solidFill>
                  <a:srgbClr val="1322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El sistema permite a los usuarios crear cuentas para acceder a servicios bibliotecarios.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76720" y="2515713"/>
            <a:ext cx="2646114" cy="29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2139" spc="-53">
                <a:solidFill>
                  <a:srgbClr val="1322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Registro de usuarios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10307" y="5135781"/>
            <a:ext cx="2857442" cy="737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7"/>
              </a:lnSpc>
            </a:pPr>
            <a:r>
              <a:rPr lang="en-US" b="true" sz="1348" spc="-19">
                <a:solidFill>
                  <a:srgbClr val="1322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Los usuarios pueden buscar libros fácilmente utilizando diversos filtros y criterios de búsqueda.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04156" y="2515713"/>
            <a:ext cx="2669733" cy="29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2139" spc="-53">
                <a:solidFill>
                  <a:srgbClr val="1322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Búsqueda de libros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69424" y="5163372"/>
            <a:ext cx="2617691" cy="709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3"/>
              </a:lnSpc>
            </a:pPr>
            <a:r>
              <a:rPr lang="en-US" b="true" sz="1309" spc="-18">
                <a:solidFill>
                  <a:srgbClr val="1322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 facilita el registro de préstamos para que los usuarios mantengan un control eficiente.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57376" y="2515713"/>
            <a:ext cx="2641792" cy="29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2139" spc="-53">
                <a:solidFill>
                  <a:srgbClr val="1322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Registro de préstamos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6750" y="952500"/>
            <a:ext cx="16954500" cy="92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spc="-20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Requisitos Funcionales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865968" y="6152295"/>
            <a:ext cx="3067629" cy="3840205"/>
          </a:xfrm>
          <a:custGeom>
            <a:avLst/>
            <a:gdLst/>
            <a:ahLst/>
            <a:cxnLst/>
            <a:rect r="r" b="b" t="t" l="l"/>
            <a:pathLst>
              <a:path h="3840205" w="3067629">
                <a:moveTo>
                  <a:pt x="0" y="0"/>
                </a:moveTo>
                <a:lnTo>
                  <a:pt x="3067629" y="0"/>
                </a:lnTo>
                <a:lnTo>
                  <a:pt x="3067629" y="3840205"/>
                </a:lnTo>
                <a:lnTo>
                  <a:pt x="0" y="3840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105213" y="6152295"/>
            <a:ext cx="3067629" cy="3840205"/>
          </a:xfrm>
          <a:custGeom>
            <a:avLst/>
            <a:gdLst/>
            <a:ahLst/>
            <a:cxnLst/>
            <a:rect r="r" b="b" t="t" l="l"/>
            <a:pathLst>
              <a:path h="3840205" w="3067629">
                <a:moveTo>
                  <a:pt x="0" y="0"/>
                </a:moveTo>
                <a:lnTo>
                  <a:pt x="3067629" y="0"/>
                </a:lnTo>
                <a:lnTo>
                  <a:pt x="3067629" y="3840205"/>
                </a:lnTo>
                <a:lnTo>
                  <a:pt x="0" y="3840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344458" y="6152295"/>
            <a:ext cx="3067629" cy="3840205"/>
          </a:xfrm>
          <a:custGeom>
            <a:avLst/>
            <a:gdLst/>
            <a:ahLst/>
            <a:cxnLst/>
            <a:rect r="r" b="b" t="t" l="l"/>
            <a:pathLst>
              <a:path h="3840205" w="3067629">
                <a:moveTo>
                  <a:pt x="0" y="0"/>
                </a:moveTo>
                <a:lnTo>
                  <a:pt x="3067629" y="0"/>
                </a:lnTo>
                <a:lnTo>
                  <a:pt x="3067629" y="3840205"/>
                </a:lnTo>
                <a:lnTo>
                  <a:pt x="0" y="3840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3137002" y="6934765"/>
            <a:ext cx="2525562" cy="1945299"/>
            <a:chOff x="0" y="0"/>
            <a:chExt cx="6199594" cy="4775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199632" cy="4775200"/>
            </a:xfrm>
            <a:custGeom>
              <a:avLst/>
              <a:gdLst/>
              <a:ahLst/>
              <a:cxnLst/>
              <a:rect r="r" b="b" t="t" l="l"/>
              <a:pathLst>
                <a:path h="4775200" w="6199632">
                  <a:moveTo>
                    <a:pt x="163957" y="0"/>
                  </a:moveTo>
                  <a:lnTo>
                    <a:pt x="6035675" y="0"/>
                  </a:lnTo>
                  <a:cubicBezTo>
                    <a:pt x="6126226" y="0"/>
                    <a:pt x="6199632" y="73406"/>
                    <a:pt x="6199632" y="163957"/>
                  </a:cubicBezTo>
                  <a:lnTo>
                    <a:pt x="6199632" y="4611243"/>
                  </a:lnTo>
                  <a:cubicBezTo>
                    <a:pt x="6199632" y="4701794"/>
                    <a:pt x="6126226" y="4775200"/>
                    <a:pt x="6035675" y="4775200"/>
                  </a:cubicBezTo>
                  <a:lnTo>
                    <a:pt x="163957" y="4775200"/>
                  </a:lnTo>
                  <a:cubicBezTo>
                    <a:pt x="120523" y="4775200"/>
                    <a:pt x="78740" y="4757928"/>
                    <a:pt x="48006" y="4727194"/>
                  </a:cubicBezTo>
                  <a:cubicBezTo>
                    <a:pt x="17272" y="4696460"/>
                    <a:pt x="0" y="4654804"/>
                    <a:pt x="0" y="4611243"/>
                  </a:cubicBezTo>
                  <a:lnTo>
                    <a:pt x="0" y="163957"/>
                  </a:lnTo>
                  <a:cubicBezTo>
                    <a:pt x="0" y="120396"/>
                    <a:pt x="17272" y="78740"/>
                    <a:pt x="48006" y="48006"/>
                  </a:cubicBezTo>
                  <a:cubicBezTo>
                    <a:pt x="78740" y="17272"/>
                    <a:pt x="120396" y="0"/>
                    <a:pt x="163957" y="0"/>
                  </a:cubicBezTo>
                  <a:close/>
                </a:path>
              </a:pathLst>
            </a:custGeom>
            <a:blipFill>
              <a:blip r:embed="rId7"/>
              <a:stretch>
                <a:fillRect l="-7804" t="0" r="-7804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-6000">
            <a:off x="6569493" y="6936630"/>
            <a:ext cx="2139058" cy="1649068"/>
            <a:chOff x="0" y="0"/>
            <a:chExt cx="6207341" cy="47854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-1" y="-1"/>
              <a:ext cx="6207253" cy="4785488"/>
            </a:xfrm>
            <a:custGeom>
              <a:avLst/>
              <a:gdLst/>
              <a:ahLst/>
              <a:cxnLst/>
              <a:rect r="r" b="b" t="t" l="l"/>
              <a:pathLst>
                <a:path h="4785488" w="6207253">
                  <a:moveTo>
                    <a:pt x="171959" y="1"/>
                  </a:moveTo>
                  <a:lnTo>
                    <a:pt x="6043677" y="10288"/>
                  </a:lnTo>
                  <a:cubicBezTo>
                    <a:pt x="6134228" y="10415"/>
                    <a:pt x="6207507" y="83948"/>
                    <a:pt x="6207253" y="174499"/>
                  </a:cubicBezTo>
                  <a:lnTo>
                    <a:pt x="6199506" y="4621785"/>
                  </a:lnTo>
                  <a:cubicBezTo>
                    <a:pt x="6199379" y="4712336"/>
                    <a:pt x="6125846" y="4785615"/>
                    <a:pt x="6035295" y="4785488"/>
                  </a:cubicBezTo>
                  <a:lnTo>
                    <a:pt x="163577" y="4775201"/>
                  </a:lnTo>
                  <a:cubicBezTo>
                    <a:pt x="120143" y="4775074"/>
                    <a:pt x="78487" y="4757802"/>
                    <a:pt x="47753" y="4726941"/>
                  </a:cubicBezTo>
                  <a:cubicBezTo>
                    <a:pt x="17019" y="4696080"/>
                    <a:pt x="-126" y="4654424"/>
                    <a:pt x="1" y="4610990"/>
                  </a:cubicBezTo>
                  <a:lnTo>
                    <a:pt x="7748" y="163577"/>
                  </a:lnTo>
                  <a:cubicBezTo>
                    <a:pt x="7875" y="120143"/>
                    <a:pt x="25147" y="78487"/>
                    <a:pt x="56008" y="47753"/>
                  </a:cubicBezTo>
                  <a:cubicBezTo>
                    <a:pt x="86869" y="17019"/>
                    <a:pt x="128525" y="-126"/>
                    <a:pt x="171959" y="1"/>
                  </a:cubicBezTo>
                  <a:close/>
                </a:path>
              </a:pathLst>
            </a:custGeom>
            <a:blipFill>
              <a:blip r:embed="rId8"/>
              <a:stretch>
                <a:fillRect l="-7749" t="0" r="-7749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-24000">
            <a:off x="9562758" y="6959141"/>
            <a:ext cx="2631028" cy="2033747"/>
            <a:chOff x="0" y="0"/>
            <a:chExt cx="6230493" cy="481608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-3" y="-3"/>
              <a:ext cx="6230500" cy="4816101"/>
            </a:xfrm>
            <a:custGeom>
              <a:avLst/>
              <a:gdLst/>
              <a:ahLst/>
              <a:cxnLst/>
              <a:rect r="r" b="b" t="t" l="l"/>
              <a:pathLst>
                <a:path h="4816101" w="6230500">
                  <a:moveTo>
                    <a:pt x="196091" y="3"/>
                  </a:moveTo>
                  <a:lnTo>
                    <a:pt x="6067682" y="41024"/>
                  </a:lnTo>
                  <a:cubicBezTo>
                    <a:pt x="6158233" y="41659"/>
                    <a:pt x="6231131" y="115573"/>
                    <a:pt x="6230496" y="206124"/>
                  </a:cubicBezTo>
                  <a:lnTo>
                    <a:pt x="6199508" y="4653283"/>
                  </a:lnTo>
                  <a:cubicBezTo>
                    <a:pt x="6198873" y="4743834"/>
                    <a:pt x="6124959" y="4816732"/>
                    <a:pt x="6034408" y="4816097"/>
                  </a:cubicBezTo>
                  <a:lnTo>
                    <a:pt x="162817" y="4775076"/>
                  </a:lnTo>
                  <a:cubicBezTo>
                    <a:pt x="119383" y="4774822"/>
                    <a:pt x="77727" y="4757169"/>
                    <a:pt x="47247" y="4726308"/>
                  </a:cubicBezTo>
                  <a:cubicBezTo>
                    <a:pt x="16767" y="4695447"/>
                    <a:pt x="-251" y="4653537"/>
                    <a:pt x="3" y="4609976"/>
                  </a:cubicBezTo>
                  <a:lnTo>
                    <a:pt x="31118" y="162817"/>
                  </a:lnTo>
                  <a:cubicBezTo>
                    <a:pt x="31372" y="119383"/>
                    <a:pt x="49025" y="77727"/>
                    <a:pt x="79886" y="47247"/>
                  </a:cubicBezTo>
                  <a:cubicBezTo>
                    <a:pt x="110747" y="16767"/>
                    <a:pt x="152657" y="-251"/>
                    <a:pt x="196091" y="3"/>
                  </a:cubicBezTo>
                  <a:close/>
                </a:path>
              </a:pathLst>
            </a:custGeom>
            <a:blipFill>
              <a:blip r:embed="rId9"/>
              <a:stretch>
                <a:fillRect l="-357" t="0" r="-357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2895418" y="8998814"/>
            <a:ext cx="3008728" cy="830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b="true" sz="1447" spc="-20">
                <a:solidFill>
                  <a:srgbClr val="1322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El sistema permite a los usuarios visualizar si algun material esta disponible para prestamo o no.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219001" y="6489268"/>
            <a:ext cx="2361558" cy="312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2139" spc="-53">
                <a:solidFill>
                  <a:srgbClr val="1322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mostrar disponibilidad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210307" y="8751551"/>
            <a:ext cx="2857442" cy="984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7"/>
              </a:lnSpc>
            </a:pPr>
            <a:r>
              <a:rPr lang="en-US" b="true" sz="1348" spc="-19">
                <a:solidFill>
                  <a:srgbClr val="1322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El sistema permite gestionar a los usuarios clientes, aceptar usuarios uevos o quitar a los que no respetan las normas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670167" y="6489268"/>
            <a:ext cx="1937715" cy="312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2139" spc="-53">
                <a:solidFill>
                  <a:srgbClr val="1322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Gestionar usuarios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69427" y="9136927"/>
            <a:ext cx="2617691" cy="709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3"/>
              </a:lnSpc>
            </a:pPr>
            <a:r>
              <a:rPr lang="en-US" b="true" sz="1309" spc="-18">
                <a:solidFill>
                  <a:srgbClr val="1322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El sistema permite a los usuarios poder ver contenidos de libros de manera digital.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047179" y="6489268"/>
            <a:ext cx="1662191" cy="312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2139" spc="-53">
                <a:solidFill>
                  <a:srgbClr val="1322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Visualizar libros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2612109" y="2178740"/>
            <a:ext cx="3067629" cy="3840205"/>
          </a:xfrm>
          <a:custGeom>
            <a:avLst/>
            <a:gdLst/>
            <a:ahLst/>
            <a:cxnLst/>
            <a:rect r="r" b="b" t="t" l="l"/>
            <a:pathLst>
              <a:path h="3840205" w="3067629">
                <a:moveTo>
                  <a:pt x="0" y="0"/>
                </a:moveTo>
                <a:lnTo>
                  <a:pt x="3067630" y="0"/>
                </a:lnTo>
                <a:lnTo>
                  <a:pt x="3067630" y="3840205"/>
                </a:lnTo>
                <a:lnTo>
                  <a:pt x="0" y="3840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-24000">
            <a:off x="12830410" y="2985585"/>
            <a:ext cx="2631028" cy="2033747"/>
            <a:chOff x="0" y="0"/>
            <a:chExt cx="6230493" cy="481608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-3" y="-3"/>
              <a:ext cx="6230500" cy="4816101"/>
            </a:xfrm>
            <a:custGeom>
              <a:avLst/>
              <a:gdLst/>
              <a:ahLst/>
              <a:cxnLst/>
              <a:rect r="r" b="b" t="t" l="l"/>
              <a:pathLst>
                <a:path h="4816101" w="6230500">
                  <a:moveTo>
                    <a:pt x="196091" y="3"/>
                  </a:moveTo>
                  <a:lnTo>
                    <a:pt x="6067682" y="41024"/>
                  </a:lnTo>
                  <a:cubicBezTo>
                    <a:pt x="6158233" y="41659"/>
                    <a:pt x="6231131" y="115573"/>
                    <a:pt x="6230496" y="206124"/>
                  </a:cubicBezTo>
                  <a:lnTo>
                    <a:pt x="6199508" y="4653283"/>
                  </a:lnTo>
                  <a:cubicBezTo>
                    <a:pt x="6198873" y="4743834"/>
                    <a:pt x="6124959" y="4816732"/>
                    <a:pt x="6034408" y="4816097"/>
                  </a:cubicBezTo>
                  <a:lnTo>
                    <a:pt x="162817" y="4775076"/>
                  </a:lnTo>
                  <a:cubicBezTo>
                    <a:pt x="119383" y="4774822"/>
                    <a:pt x="77727" y="4757169"/>
                    <a:pt x="47247" y="4726308"/>
                  </a:cubicBezTo>
                  <a:cubicBezTo>
                    <a:pt x="16767" y="4695447"/>
                    <a:pt x="-251" y="4653537"/>
                    <a:pt x="3" y="4609976"/>
                  </a:cubicBezTo>
                  <a:lnTo>
                    <a:pt x="31118" y="162817"/>
                  </a:lnTo>
                  <a:cubicBezTo>
                    <a:pt x="31372" y="119383"/>
                    <a:pt x="49025" y="77727"/>
                    <a:pt x="79886" y="47247"/>
                  </a:cubicBezTo>
                  <a:cubicBezTo>
                    <a:pt x="110747" y="16767"/>
                    <a:pt x="152657" y="-251"/>
                    <a:pt x="196091" y="3"/>
                  </a:cubicBezTo>
                  <a:close/>
                </a:path>
              </a:pathLst>
            </a:custGeom>
            <a:blipFill>
              <a:blip r:embed="rId10"/>
              <a:stretch>
                <a:fillRect l="-8010" t="0" r="-801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2837079" y="5163372"/>
            <a:ext cx="2617691" cy="709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3"/>
              </a:lnSpc>
            </a:pPr>
            <a:r>
              <a:rPr lang="en-US" b="true" sz="1309" spc="-18">
                <a:solidFill>
                  <a:srgbClr val="1322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 registra cuando los los materiales prestados son devueltos por los usuarios.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860360" y="2515713"/>
            <a:ext cx="2571134" cy="312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2139" spc="-53">
                <a:solidFill>
                  <a:srgbClr val="1322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Registro de devoluciones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2583537" y="6152295"/>
            <a:ext cx="3067629" cy="3840205"/>
          </a:xfrm>
          <a:custGeom>
            <a:avLst/>
            <a:gdLst/>
            <a:ahLst/>
            <a:cxnLst/>
            <a:rect r="r" b="b" t="t" l="l"/>
            <a:pathLst>
              <a:path h="3840205" w="3067629">
                <a:moveTo>
                  <a:pt x="0" y="0"/>
                </a:moveTo>
                <a:lnTo>
                  <a:pt x="3067629" y="0"/>
                </a:lnTo>
                <a:lnTo>
                  <a:pt x="3067629" y="3840205"/>
                </a:lnTo>
                <a:lnTo>
                  <a:pt x="0" y="3840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-24000">
            <a:off x="13109696" y="6941775"/>
            <a:ext cx="2015312" cy="2033747"/>
            <a:chOff x="0" y="0"/>
            <a:chExt cx="4772426" cy="4816081"/>
          </a:xfrm>
        </p:grpSpPr>
        <p:sp>
          <p:nvSpPr>
            <p:cNvPr name="Freeform 40" id="40"/>
            <p:cNvSpPr/>
            <p:nvPr/>
          </p:nvSpPr>
          <p:spPr>
            <a:xfrm flipH="false" flipV="false" rot="-6000">
              <a:off x="-3846" y="-3903"/>
              <a:ext cx="4780119" cy="4823902"/>
            </a:xfrm>
            <a:custGeom>
              <a:avLst/>
              <a:gdLst/>
              <a:ahLst/>
              <a:cxnLst/>
              <a:rect r="r" b="b" t="t" l="l"/>
              <a:pathLst>
                <a:path h="4823902" w="4780119">
                  <a:moveTo>
                    <a:pt x="158252" y="4"/>
                  </a:moveTo>
                  <a:lnTo>
                    <a:pt x="4655688" y="48875"/>
                  </a:lnTo>
                  <a:cubicBezTo>
                    <a:pt x="4725047" y="49631"/>
                    <a:pt x="4780904" y="123642"/>
                    <a:pt x="4780112" y="214192"/>
                  </a:cubicBezTo>
                  <a:lnTo>
                    <a:pt x="4748614" y="4661303"/>
                  </a:lnTo>
                  <a:cubicBezTo>
                    <a:pt x="4747969" y="4751853"/>
                    <a:pt x="4691225" y="4824652"/>
                    <a:pt x="4621867" y="4823896"/>
                  </a:cubicBezTo>
                  <a:lnTo>
                    <a:pt x="124430" y="4775025"/>
                  </a:lnTo>
                  <a:cubicBezTo>
                    <a:pt x="91161" y="4774713"/>
                    <a:pt x="59285" y="4757004"/>
                    <a:pt x="35991" y="4726103"/>
                  </a:cubicBezTo>
                  <a:cubicBezTo>
                    <a:pt x="12698" y="4695201"/>
                    <a:pt x="-323" y="4653269"/>
                    <a:pt x="7" y="4609708"/>
                  </a:cubicBezTo>
                  <a:lnTo>
                    <a:pt x="31602" y="162597"/>
                  </a:lnTo>
                  <a:cubicBezTo>
                    <a:pt x="31872" y="119164"/>
                    <a:pt x="45467" y="77531"/>
                    <a:pt x="69159" y="47093"/>
                  </a:cubicBezTo>
                  <a:cubicBezTo>
                    <a:pt x="92851" y="16654"/>
                    <a:pt x="124982" y="-308"/>
                    <a:pt x="158252" y="4"/>
                  </a:cubicBezTo>
                  <a:close/>
                </a:path>
              </a:pathLst>
            </a:custGeom>
            <a:blipFill>
              <a:blip r:embed="rId11"/>
              <a:stretch>
                <a:fillRect l="-1226" t="0" r="-1226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2808506" y="9136927"/>
            <a:ext cx="2617691" cy="709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3"/>
              </a:lnSpc>
            </a:pPr>
            <a:r>
              <a:rPr lang="en-US" b="true" sz="1309" spc="-18">
                <a:solidFill>
                  <a:srgbClr val="1322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El sistema notifica cuando devolviste un articulo o cuando un articulo esta disponible.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959033" y="6489268"/>
            <a:ext cx="2316643" cy="312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2139" spc="-53">
                <a:solidFill>
                  <a:srgbClr val="1322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Notificar devoluciones</a:t>
            </a:r>
          </a:p>
        </p:txBody>
      </p:sp>
      <p:sp>
        <p:nvSpPr>
          <p:cNvPr name="AutoShape 43" id="43"/>
          <p:cNvSpPr/>
          <p:nvPr/>
        </p:nvSpPr>
        <p:spPr>
          <a:xfrm>
            <a:off x="5897880" y="514350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95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182100"/>
            <a:ext cx="1524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66750" y="522084"/>
            <a:ext cx="16954500" cy="9098166"/>
          </a:xfrm>
          <a:custGeom>
            <a:avLst/>
            <a:gdLst/>
            <a:ahLst/>
            <a:cxnLst/>
            <a:rect r="r" b="b" t="t" l="l"/>
            <a:pathLst>
              <a:path h="9098166" w="16954500">
                <a:moveTo>
                  <a:pt x="0" y="0"/>
                </a:moveTo>
                <a:lnTo>
                  <a:pt x="16954500" y="0"/>
                </a:lnTo>
                <a:lnTo>
                  <a:pt x="16954500" y="9098166"/>
                </a:lnTo>
                <a:lnTo>
                  <a:pt x="0" y="9098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17060">
            <a:off x="16099469" y="7952718"/>
            <a:ext cx="2112607" cy="1859090"/>
          </a:xfrm>
          <a:custGeom>
            <a:avLst/>
            <a:gdLst/>
            <a:ahLst/>
            <a:cxnLst/>
            <a:rect r="r" b="b" t="t" l="l"/>
            <a:pathLst>
              <a:path h="1859090" w="2112607">
                <a:moveTo>
                  <a:pt x="0" y="0"/>
                </a:moveTo>
                <a:lnTo>
                  <a:pt x="2112607" y="0"/>
                </a:lnTo>
                <a:lnTo>
                  <a:pt x="2112607" y="1859089"/>
                </a:lnTo>
                <a:lnTo>
                  <a:pt x="0" y="18590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63" r="0" b="-1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190280">
            <a:off x="15253779" y="370823"/>
            <a:ext cx="2204628" cy="2944416"/>
          </a:xfrm>
          <a:custGeom>
            <a:avLst/>
            <a:gdLst/>
            <a:ahLst/>
            <a:cxnLst/>
            <a:rect r="r" b="b" t="t" l="l"/>
            <a:pathLst>
              <a:path h="2944416" w="2204628">
                <a:moveTo>
                  <a:pt x="0" y="0"/>
                </a:moveTo>
                <a:lnTo>
                  <a:pt x="2204628" y="0"/>
                </a:lnTo>
                <a:lnTo>
                  <a:pt x="2204628" y="2944415"/>
                </a:lnTo>
                <a:lnTo>
                  <a:pt x="0" y="2944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91" t="0" r="-19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00225" y="1412081"/>
            <a:ext cx="13249275" cy="136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8000" spc="-24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Requisitos No Funcionales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0225" y="3181436"/>
            <a:ext cx="1324927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2499" spc="-37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Calidad y condiciones del sistema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7272" y="3879506"/>
            <a:ext cx="4000165" cy="383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4"/>
              </a:lnSpc>
            </a:pPr>
            <a:r>
              <a:rPr lang="en-US" b="true" sz="2320" spc="-34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Sistema amigable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67272" y="4605508"/>
            <a:ext cx="4000165" cy="170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856" spc="-2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 sistema debe ser </a:t>
            </a:r>
            <a:r>
              <a:rPr lang="en-US" b="true" sz="1856" spc="-27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intuitivo y fácil de usar</a:t>
            </a:r>
            <a:r>
              <a:rPr lang="en-US" sz="1856" spc="-2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permitiendo a los usuarios navegar sin complicaciones y acceder a las funcionalidades necesarias con rapidez.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36201" y="3400511"/>
            <a:ext cx="3723050" cy="383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4"/>
              </a:lnSpc>
            </a:pPr>
            <a:r>
              <a:rPr lang="en-US" b="true" sz="2320" spc="-34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Acceso seguro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36201" y="4126513"/>
            <a:ext cx="3723050" cy="200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856" spc="-2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 requiere un enfoque robusto en la </a:t>
            </a:r>
            <a:r>
              <a:rPr lang="en-US" b="true" sz="1856" spc="-27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seguridad del acceso</a:t>
            </a:r>
            <a:r>
              <a:rPr lang="en-US" sz="1856" spc="-2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garantizando que solo los usuarios autorizados puedan acceder a la información y realizar operaciones dentro del sistema.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68418" y="3400511"/>
            <a:ext cx="3723050" cy="383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4"/>
              </a:lnSpc>
            </a:pPr>
            <a:r>
              <a:rPr lang="en-US" b="true" sz="2320" spc="-34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Tiempo de respuesta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68418" y="4126513"/>
            <a:ext cx="3723050" cy="2033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856" spc="-2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 sistema debe ofrecer un </a:t>
            </a:r>
            <a:r>
              <a:rPr lang="en-US" b="true" sz="1856" spc="-27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tiempo de respuesta rápido</a:t>
            </a:r>
            <a:r>
              <a:rPr lang="en-US" sz="1856" spc="-2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asegurando que las consultas y operaciones se realicen sin demoras significativas para ofrecer una experiencia eficiente al usuario.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67227" y="6674006"/>
            <a:ext cx="2893295" cy="708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4"/>
              </a:lnSpc>
            </a:pPr>
            <a:r>
              <a:rPr lang="en-US" sz="2320" spc="-32" b="true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Disponibilidad online</a:t>
            </a:r>
          </a:p>
          <a:p>
            <a:pPr algn="l">
              <a:lnSpc>
                <a:spcPts val="2784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567227" y="7400008"/>
            <a:ext cx="4101854" cy="1626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856" spc="-2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 plataforma debe estar disponible para los usuarios las 24 horas del día, los 7 días de la semana, para funcionar como una extensión digital continua de los servicios físicos de la biblioteca.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40059" y="6674006"/>
            <a:ext cx="2737984" cy="708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4"/>
              </a:lnSpc>
            </a:pPr>
            <a:r>
              <a:rPr lang="en-US" sz="2320" spc="-32" b="true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Proteccion de datos</a:t>
            </a:r>
          </a:p>
          <a:p>
            <a:pPr algn="l">
              <a:lnSpc>
                <a:spcPts val="2784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7840059" y="7409533"/>
            <a:ext cx="4428358" cy="1726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3"/>
              </a:lnSpc>
            </a:pPr>
            <a:r>
              <a:rPr lang="en-US" sz="1645" spc="-2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 deben implementar mecanismos de seguridad que aseguren que los datos de los usuarios solo sean visibles y modificables por roles autorizados, manteniendo una pista de auditoría de cualquier acceso o alteración a la información sensible.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95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96400" y="-144656"/>
            <a:ext cx="8991600" cy="3497456"/>
          </a:xfrm>
          <a:custGeom>
            <a:avLst/>
            <a:gdLst/>
            <a:ahLst/>
            <a:cxnLst/>
            <a:rect r="r" b="b" t="t" l="l"/>
            <a:pathLst>
              <a:path h="3497456" w="8991600">
                <a:moveTo>
                  <a:pt x="0" y="0"/>
                </a:moveTo>
                <a:lnTo>
                  <a:pt x="8991600" y="0"/>
                </a:lnTo>
                <a:lnTo>
                  <a:pt x="8991600" y="3497456"/>
                </a:lnTo>
                <a:lnTo>
                  <a:pt x="0" y="3497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991600" y="0"/>
            <a:ext cx="9296400" cy="10287000"/>
            <a:chOff x="0" y="0"/>
            <a:chExt cx="123952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395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395200">
                  <a:moveTo>
                    <a:pt x="0" y="0"/>
                  </a:moveTo>
                  <a:lnTo>
                    <a:pt x="12395200" y="0"/>
                  </a:lnTo>
                  <a:lnTo>
                    <a:pt x="123952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4"/>
              <a:stretch>
                <a:fillRect l="-32991" t="0" r="-3299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66750" y="952500"/>
            <a:ext cx="6886575" cy="193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Metodología de Desarrollo RUP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7378703"/>
            <a:ext cx="6886575" cy="2241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-3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 metodología </a:t>
            </a:r>
            <a:r>
              <a:rPr lang="en-US" b="true" sz="2499" spc="-37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Rational Unified Process (RUP)</a:t>
            </a:r>
            <a:r>
              <a:rPr lang="en-US" sz="2499" spc="-3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se basa en fases como Incepción, Elaboración, Construcción y Transición, adoptando un enfoque iterativo e incremental para garantizar la calidad y la validación continua del sistema.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5400000">
            <a:off x="4763891" y="6942172"/>
            <a:ext cx="4370975" cy="3190818"/>
          </a:xfrm>
          <a:custGeom>
            <a:avLst/>
            <a:gdLst/>
            <a:ahLst/>
            <a:cxnLst/>
            <a:rect r="r" b="b" t="t" l="l"/>
            <a:pathLst>
              <a:path h="3190818" w="4370975">
                <a:moveTo>
                  <a:pt x="0" y="0"/>
                </a:moveTo>
                <a:lnTo>
                  <a:pt x="4370975" y="0"/>
                </a:lnTo>
                <a:lnTo>
                  <a:pt x="4370975" y="3190818"/>
                </a:lnTo>
                <a:lnTo>
                  <a:pt x="0" y="31908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38" r="0" b="-138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95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3447" y="4400550"/>
            <a:ext cx="17626422" cy="19050"/>
            <a:chOff x="0" y="0"/>
            <a:chExt cx="23501896" cy="25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0"/>
              <a:ext cx="23476458" cy="25400"/>
            </a:xfrm>
            <a:custGeom>
              <a:avLst/>
              <a:gdLst/>
              <a:ahLst/>
              <a:cxnLst/>
              <a:rect r="r" b="b" t="t" l="l"/>
              <a:pathLst>
                <a:path h="25400" w="23476458">
                  <a:moveTo>
                    <a:pt x="0" y="0"/>
                  </a:moveTo>
                  <a:lnTo>
                    <a:pt x="23476458" y="0"/>
                  </a:lnTo>
                  <a:lnTo>
                    <a:pt x="2347645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1FF7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9122" y="4248150"/>
            <a:ext cx="323850" cy="323850"/>
            <a:chOff x="0" y="0"/>
            <a:chExt cx="431800" cy="431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215900" y="0"/>
                  </a:moveTo>
                  <a:cubicBezTo>
                    <a:pt x="96647" y="0"/>
                    <a:pt x="0" y="96647"/>
                    <a:pt x="0" y="215900"/>
                  </a:cubicBezTo>
                  <a:cubicBezTo>
                    <a:pt x="0" y="335153"/>
                    <a:pt x="96647" y="431800"/>
                    <a:pt x="215900" y="431800"/>
                  </a:cubicBezTo>
                  <a:cubicBezTo>
                    <a:pt x="335153" y="431800"/>
                    <a:pt x="431800" y="335153"/>
                    <a:pt x="431800" y="215900"/>
                  </a:cubicBezTo>
                  <a:cubicBezTo>
                    <a:pt x="431800" y="96647"/>
                    <a:pt x="335153" y="0"/>
                    <a:pt x="215900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83156" y="4248150"/>
            <a:ext cx="323850" cy="323850"/>
            <a:chOff x="0" y="0"/>
            <a:chExt cx="431800" cy="431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215900" y="0"/>
                  </a:moveTo>
                  <a:cubicBezTo>
                    <a:pt x="96647" y="0"/>
                    <a:pt x="0" y="96647"/>
                    <a:pt x="0" y="215900"/>
                  </a:cubicBezTo>
                  <a:cubicBezTo>
                    <a:pt x="0" y="335153"/>
                    <a:pt x="96647" y="431800"/>
                    <a:pt x="215900" y="431800"/>
                  </a:cubicBezTo>
                  <a:cubicBezTo>
                    <a:pt x="335153" y="431800"/>
                    <a:pt x="431800" y="335153"/>
                    <a:pt x="431800" y="215900"/>
                  </a:cubicBezTo>
                  <a:cubicBezTo>
                    <a:pt x="431800" y="96647"/>
                    <a:pt x="335153" y="0"/>
                    <a:pt x="215900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97191" y="4248150"/>
            <a:ext cx="323850" cy="323850"/>
            <a:chOff x="0" y="0"/>
            <a:chExt cx="431800" cy="431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215900" y="0"/>
                  </a:moveTo>
                  <a:cubicBezTo>
                    <a:pt x="96647" y="0"/>
                    <a:pt x="0" y="96647"/>
                    <a:pt x="0" y="215900"/>
                  </a:cubicBezTo>
                  <a:cubicBezTo>
                    <a:pt x="0" y="335153"/>
                    <a:pt x="96647" y="431800"/>
                    <a:pt x="215900" y="431800"/>
                  </a:cubicBezTo>
                  <a:cubicBezTo>
                    <a:pt x="335153" y="431800"/>
                    <a:pt x="431800" y="335153"/>
                    <a:pt x="431800" y="215900"/>
                  </a:cubicBezTo>
                  <a:cubicBezTo>
                    <a:pt x="431800" y="96647"/>
                    <a:pt x="335153" y="0"/>
                    <a:pt x="215900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611225" y="4248150"/>
            <a:ext cx="323850" cy="323850"/>
            <a:chOff x="0" y="0"/>
            <a:chExt cx="431800" cy="431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215900" y="0"/>
                  </a:moveTo>
                  <a:cubicBezTo>
                    <a:pt x="96647" y="0"/>
                    <a:pt x="0" y="96647"/>
                    <a:pt x="0" y="215900"/>
                  </a:cubicBezTo>
                  <a:cubicBezTo>
                    <a:pt x="0" y="335153"/>
                    <a:pt x="96647" y="431800"/>
                    <a:pt x="215900" y="431800"/>
                  </a:cubicBezTo>
                  <a:cubicBezTo>
                    <a:pt x="335153" y="431800"/>
                    <a:pt x="431800" y="335153"/>
                    <a:pt x="431800" y="215900"/>
                  </a:cubicBezTo>
                  <a:cubicBezTo>
                    <a:pt x="431800" y="96647"/>
                    <a:pt x="335153" y="0"/>
                    <a:pt x="215900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2188171" y="340824"/>
            <a:ext cx="2236518" cy="1864690"/>
          </a:xfrm>
          <a:custGeom>
            <a:avLst/>
            <a:gdLst/>
            <a:ahLst/>
            <a:cxnLst/>
            <a:rect r="r" b="b" t="t" l="l"/>
            <a:pathLst>
              <a:path h="1864690" w="2236518">
                <a:moveTo>
                  <a:pt x="0" y="0"/>
                </a:moveTo>
                <a:lnTo>
                  <a:pt x="2236518" y="0"/>
                </a:lnTo>
                <a:lnTo>
                  <a:pt x="2236518" y="1864690"/>
                </a:lnTo>
                <a:lnTo>
                  <a:pt x="0" y="18646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7" r="0" b="-17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69122" y="3348038"/>
            <a:ext cx="400765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 spc="-37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Análisis de requisitos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9122" y="5067300"/>
            <a:ext cx="4007653" cy="2139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3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 llevará a cabo un análisis exhaustivo de los requisitos del sistema para garantizar que todas las necesidades de los usuarios estén adecuadamente documentadas y comprendidas.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81575" y="3348038"/>
            <a:ext cx="401002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 spc="-37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Diseño del sistema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616435" y="3304384"/>
            <a:ext cx="400311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 spc="-37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Pruebas e implementación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81575" y="5067300"/>
            <a:ext cx="4010025" cy="1787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3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 esta fase, se creará la arquitectura del sistema y se diseñarán las interfaces de usuario para asegurar una experiencia intuitiva y funcional.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11225" y="5067300"/>
            <a:ext cx="4003110" cy="1787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3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 fase final incluye pruebas de aceptación con usuarios reales, ajustes necesarios y, finalmente, la implementación del sistema en el entorno de producción.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96400" y="3348038"/>
            <a:ext cx="380784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 spc="-37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Desarrollo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97191" y="5067300"/>
            <a:ext cx="4009234" cy="2139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3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 procederá a la implementación de las funcionalidades del sistema, seguido de pruebas unitarias para asegurar que cada componente funcione correctamente antes de la integración.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9835" y="952500"/>
            <a:ext cx="16954500" cy="92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Planificación del Proyecto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95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6750" y="522084"/>
            <a:ext cx="16954500" cy="9098166"/>
          </a:xfrm>
          <a:custGeom>
            <a:avLst/>
            <a:gdLst/>
            <a:ahLst/>
            <a:cxnLst/>
            <a:rect r="r" b="b" t="t" l="l"/>
            <a:pathLst>
              <a:path h="9098166" w="16954500">
                <a:moveTo>
                  <a:pt x="0" y="0"/>
                </a:moveTo>
                <a:lnTo>
                  <a:pt x="16954500" y="0"/>
                </a:lnTo>
                <a:lnTo>
                  <a:pt x="16954500" y="9098166"/>
                </a:lnTo>
                <a:lnTo>
                  <a:pt x="0" y="9098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6078" y="1972292"/>
            <a:ext cx="16635845" cy="6342416"/>
          </a:xfrm>
          <a:custGeom>
            <a:avLst/>
            <a:gdLst/>
            <a:ahLst/>
            <a:cxnLst/>
            <a:rect r="r" b="b" t="t" l="l"/>
            <a:pathLst>
              <a:path h="6342416" w="16635845">
                <a:moveTo>
                  <a:pt x="0" y="0"/>
                </a:moveTo>
                <a:lnTo>
                  <a:pt x="16635844" y="0"/>
                </a:lnTo>
                <a:lnTo>
                  <a:pt x="16635844" y="6342416"/>
                </a:lnTo>
                <a:lnTo>
                  <a:pt x="0" y="63424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95543" y="8614613"/>
            <a:ext cx="966380" cy="805716"/>
          </a:xfrm>
          <a:custGeom>
            <a:avLst/>
            <a:gdLst/>
            <a:ahLst/>
            <a:cxnLst/>
            <a:rect r="r" b="b" t="t" l="l"/>
            <a:pathLst>
              <a:path h="805716" w="966380">
                <a:moveTo>
                  <a:pt x="0" y="0"/>
                </a:moveTo>
                <a:lnTo>
                  <a:pt x="966379" y="0"/>
                </a:lnTo>
                <a:lnTo>
                  <a:pt x="966379" y="805716"/>
                </a:lnTo>
                <a:lnTo>
                  <a:pt x="0" y="8057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7" r="0" b="-17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95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6750" y="522084"/>
            <a:ext cx="16954500" cy="9098166"/>
          </a:xfrm>
          <a:custGeom>
            <a:avLst/>
            <a:gdLst/>
            <a:ahLst/>
            <a:cxnLst/>
            <a:rect r="r" b="b" t="t" l="l"/>
            <a:pathLst>
              <a:path h="9098166" w="16954500">
                <a:moveTo>
                  <a:pt x="0" y="0"/>
                </a:moveTo>
                <a:lnTo>
                  <a:pt x="16954500" y="0"/>
                </a:lnTo>
                <a:lnTo>
                  <a:pt x="16954500" y="9098166"/>
                </a:lnTo>
                <a:lnTo>
                  <a:pt x="0" y="9098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9221" y="1349759"/>
            <a:ext cx="16009558" cy="7004182"/>
          </a:xfrm>
          <a:custGeom>
            <a:avLst/>
            <a:gdLst/>
            <a:ahLst/>
            <a:cxnLst/>
            <a:rect r="r" b="b" t="t" l="l"/>
            <a:pathLst>
              <a:path h="7004182" w="16009558">
                <a:moveTo>
                  <a:pt x="0" y="0"/>
                </a:moveTo>
                <a:lnTo>
                  <a:pt x="16009558" y="0"/>
                </a:lnTo>
                <a:lnTo>
                  <a:pt x="16009558" y="7004182"/>
                </a:lnTo>
                <a:lnTo>
                  <a:pt x="0" y="70041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95543" y="8614613"/>
            <a:ext cx="966380" cy="805716"/>
          </a:xfrm>
          <a:custGeom>
            <a:avLst/>
            <a:gdLst/>
            <a:ahLst/>
            <a:cxnLst/>
            <a:rect r="r" b="b" t="t" l="l"/>
            <a:pathLst>
              <a:path h="805716" w="966380">
                <a:moveTo>
                  <a:pt x="0" y="0"/>
                </a:moveTo>
                <a:lnTo>
                  <a:pt x="966379" y="0"/>
                </a:lnTo>
                <a:lnTo>
                  <a:pt x="966379" y="805716"/>
                </a:lnTo>
                <a:lnTo>
                  <a:pt x="0" y="8057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7" r="0" b="-17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95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477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775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5974C"/>
            </a:solidFill>
          </p:spPr>
        </p:sp>
      </p:grpSp>
      <p:grpSp>
        <p:nvGrpSpPr>
          <p:cNvPr name="Group 4" id="4"/>
          <p:cNvGrpSpPr/>
          <p:nvPr/>
        </p:nvGrpSpPr>
        <p:grpSpPr>
          <a:xfrm rot="-60000">
            <a:off x="978103" y="620516"/>
            <a:ext cx="5901909" cy="9045959"/>
            <a:chOff x="0" y="0"/>
            <a:chExt cx="7869212" cy="120612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38" y="-38"/>
              <a:ext cx="7869251" cy="12061266"/>
            </a:xfrm>
            <a:custGeom>
              <a:avLst/>
              <a:gdLst/>
              <a:ahLst/>
              <a:cxnLst/>
              <a:rect r="r" b="b" t="t" l="l"/>
              <a:pathLst>
                <a:path h="12061266" w="7869251">
                  <a:moveTo>
                    <a:pt x="457365" y="38"/>
                  </a:moveTo>
                  <a:lnTo>
                    <a:pt x="7620292" y="125133"/>
                  </a:lnTo>
                  <a:cubicBezTo>
                    <a:pt x="7760246" y="127546"/>
                    <a:pt x="7871625" y="242989"/>
                    <a:pt x="7869212" y="382943"/>
                  </a:cubicBezTo>
                  <a:lnTo>
                    <a:pt x="7669695" y="11812308"/>
                  </a:lnTo>
                  <a:cubicBezTo>
                    <a:pt x="7667282" y="11952262"/>
                    <a:pt x="7551838" y="12063640"/>
                    <a:pt x="7411885" y="12061227"/>
                  </a:cubicBezTo>
                  <a:lnTo>
                    <a:pt x="248958" y="11936260"/>
                  </a:lnTo>
                  <a:cubicBezTo>
                    <a:pt x="109131" y="11933847"/>
                    <a:pt x="-2375" y="11818404"/>
                    <a:pt x="38" y="11678450"/>
                  </a:cubicBezTo>
                  <a:lnTo>
                    <a:pt x="199555" y="248958"/>
                  </a:lnTo>
                  <a:cubicBezTo>
                    <a:pt x="201968" y="109131"/>
                    <a:pt x="317411" y="-2375"/>
                    <a:pt x="457365" y="38"/>
                  </a:cubicBezTo>
                  <a:close/>
                </a:path>
              </a:pathLst>
            </a:custGeom>
            <a:blipFill>
              <a:blip r:embed="rId2"/>
              <a:stretch>
                <a:fillRect l="-88299" t="0" r="-88299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3117060">
            <a:off x="5418782" y="7952718"/>
            <a:ext cx="2112607" cy="1859090"/>
          </a:xfrm>
          <a:custGeom>
            <a:avLst/>
            <a:gdLst/>
            <a:ahLst/>
            <a:cxnLst/>
            <a:rect r="r" b="b" t="t" l="l"/>
            <a:pathLst>
              <a:path h="1859090" w="2112607">
                <a:moveTo>
                  <a:pt x="0" y="0"/>
                </a:moveTo>
                <a:lnTo>
                  <a:pt x="2112607" y="0"/>
                </a:lnTo>
                <a:lnTo>
                  <a:pt x="2112607" y="1859089"/>
                </a:lnTo>
                <a:lnTo>
                  <a:pt x="0" y="18590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63" r="0" b="-16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666534" y="3171873"/>
            <a:ext cx="2909773" cy="2909773"/>
          </a:xfrm>
          <a:custGeom>
            <a:avLst/>
            <a:gdLst/>
            <a:ahLst/>
            <a:cxnLst/>
            <a:rect r="r" b="b" t="t" l="l"/>
            <a:pathLst>
              <a:path h="2909773" w="2909773">
                <a:moveTo>
                  <a:pt x="0" y="0"/>
                </a:moveTo>
                <a:lnTo>
                  <a:pt x="2909774" y="0"/>
                </a:lnTo>
                <a:lnTo>
                  <a:pt x="2909774" y="2909773"/>
                </a:lnTo>
                <a:lnTo>
                  <a:pt x="0" y="29097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941813" y="1162050"/>
            <a:ext cx="8317487" cy="152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75"/>
              </a:lnSpc>
            </a:pPr>
            <a:r>
              <a:rPr lang="en-US" sz="13275" spc="-464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Conclusiones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90220" y="7149055"/>
            <a:ext cx="9462402" cy="2704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0"/>
              </a:lnSpc>
            </a:pPr>
            <a:r>
              <a:rPr lang="en-US" b="true" sz="2309" spc="-34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El Sistema UNILIB moderniza la gestión bibliotecaria al automatizar el registro de usuarios, la búsqueda en catálogo y el control de préstamos. Basado en la metodología RUP, el proyecto garantiza una plataforma segura y eficiente que optimiza la labor administrativa y facilita el acceso al conocimiento para toda la comunidad académica, cumpliendo con éxito los objetivos de diseño y funcionalidad propuestos.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DAHG3PwAFQw</dc:identifier>
  <dcterms:modified xsi:type="dcterms:W3CDTF">2011-08-01T06:04:30Z</dcterms:modified>
  <cp:revision>1</cp:revision>
  <dc:title>Presentación UNILIB - Sistema de Gestión Biblioteca UNILIB.pptx</dc:title>
</cp:coreProperties>
</file>